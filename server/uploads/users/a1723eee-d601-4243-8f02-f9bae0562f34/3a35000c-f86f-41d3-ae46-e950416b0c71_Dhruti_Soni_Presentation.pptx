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98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425C74-C12E-4E54-9D4B-51C261D9A410}" type="doc">
      <dgm:prSet loTypeId="urn:microsoft.com/office/officeart/2005/8/layout/cycle6" loCatId="cycle" qsTypeId="urn:microsoft.com/office/officeart/2005/8/quickstyle/3d4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B6EEB6E-3AA4-464A-A57F-A26BE66AB646}">
      <dgm:prSet phldrT="[Text]" custT="1"/>
      <dgm:spPr/>
      <dgm:t>
        <a:bodyPr/>
        <a:lstStyle/>
        <a:p>
          <a:r>
            <a:rPr lang="en-US" sz="1200" dirty="0" smtClean="0"/>
            <a:t>Collect &amp; manage student academic data.</a:t>
          </a:r>
          <a:endParaRPr lang="en-US" sz="1200" dirty="0"/>
        </a:p>
      </dgm:t>
    </dgm:pt>
    <dgm:pt modelId="{667B2B30-2D63-44FE-BBAF-0D3845A26A9E}" type="parTrans" cxnId="{7ECBC0C5-BBB7-4ACD-8088-D8C760AA8CAB}">
      <dgm:prSet/>
      <dgm:spPr/>
      <dgm:t>
        <a:bodyPr/>
        <a:lstStyle/>
        <a:p>
          <a:endParaRPr lang="en-US"/>
        </a:p>
      </dgm:t>
    </dgm:pt>
    <dgm:pt modelId="{41CEE925-98EC-459A-8765-8EF3362E4B14}" type="sibTrans" cxnId="{7ECBC0C5-BBB7-4ACD-8088-D8C760AA8CAB}">
      <dgm:prSet/>
      <dgm:spPr/>
      <dgm:t>
        <a:bodyPr/>
        <a:lstStyle/>
        <a:p>
          <a:endParaRPr lang="en-US"/>
        </a:p>
      </dgm:t>
    </dgm:pt>
    <dgm:pt modelId="{D8C68720-A26C-47D8-8DF0-B7C7C74E9B70}">
      <dgm:prSet phldrT="[Text]" custT="1"/>
      <dgm:spPr/>
      <dgm:t>
        <a:bodyPr/>
        <a:lstStyle/>
        <a:p>
          <a:r>
            <a:rPr lang="en-US" sz="1800" dirty="0" smtClean="0"/>
            <a:t>Clean &amp; validate dataset</a:t>
          </a:r>
          <a:endParaRPr lang="en-US" sz="1800" dirty="0"/>
        </a:p>
      </dgm:t>
    </dgm:pt>
    <dgm:pt modelId="{0FE59156-F5E6-4F9F-A6CD-A23F1A38EBCC}" type="parTrans" cxnId="{1BD1B0F3-B67F-4080-8B32-BA82E275F2DA}">
      <dgm:prSet/>
      <dgm:spPr/>
      <dgm:t>
        <a:bodyPr/>
        <a:lstStyle/>
        <a:p>
          <a:endParaRPr lang="en-US"/>
        </a:p>
      </dgm:t>
    </dgm:pt>
    <dgm:pt modelId="{81C817AE-C4DB-4102-A1A9-8BD41334FBBF}" type="sibTrans" cxnId="{1BD1B0F3-B67F-4080-8B32-BA82E275F2DA}">
      <dgm:prSet/>
      <dgm:spPr/>
      <dgm:t>
        <a:bodyPr/>
        <a:lstStyle/>
        <a:p>
          <a:endParaRPr lang="en-US"/>
        </a:p>
      </dgm:t>
    </dgm:pt>
    <dgm:pt modelId="{BBBA49A1-8228-4E8B-9EAE-3EBEB42F5D3C}">
      <dgm:prSet phldrT="[Text]" custT="1"/>
      <dgm:spPr/>
      <dgm:t>
        <a:bodyPr/>
        <a:lstStyle/>
        <a:p>
          <a:r>
            <a:rPr lang="en-US" sz="1600" dirty="0" smtClean="0"/>
            <a:t>Analyze student </a:t>
          </a:r>
          <a:r>
            <a:rPr lang="en-US" sz="1600" dirty="0" err="1" smtClean="0"/>
            <a:t>perfromance</a:t>
          </a:r>
          <a:endParaRPr lang="en-US" sz="1600" dirty="0"/>
        </a:p>
      </dgm:t>
    </dgm:pt>
    <dgm:pt modelId="{0AFCF64B-0809-42BD-A8ED-B07BA7D27623}" type="parTrans" cxnId="{AE4EFB1E-6ED8-42BC-9527-33D192209F22}">
      <dgm:prSet/>
      <dgm:spPr/>
      <dgm:t>
        <a:bodyPr/>
        <a:lstStyle/>
        <a:p>
          <a:endParaRPr lang="en-US"/>
        </a:p>
      </dgm:t>
    </dgm:pt>
    <dgm:pt modelId="{BCE824F5-0F1B-4C43-A68B-BA36DA60FB87}" type="sibTrans" cxnId="{AE4EFB1E-6ED8-42BC-9527-33D192209F22}">
      <dgm:prSet/>
      <dgm:spPr/>
      <dgm:t>
        <a:bodyPr/>
        <a:lstStyle/>
        <a:p>
          <a:endParaRPr lang="en-US"/>
        </a:p>
      </dgm:t>
    </dgm:pt>
    <dgm:pt modelId="{FBF5712D-D151-492A-81FD-3E6965B7DCC2}">
      <dgm:prSet phldrT="[Text]"/>
      <dgm:spPr/>
      <dgm:t>
        <a:bodyPr/>
        <a:lstStyle/>
        <a:p>
          <a:r>
            <a:rPr lang="en-US" dirty="0" smtClean="0"/>
            <a:t>Identify student needs of improvement</a:t>
          </a:r>
          <a:endParaRPr lang="en-US" dirty="0"/>
        </a:p>
      </dgm:t>
    </dgm:pt>
    <dgm:pt modelId="{A542FD49-DFDC-4AEA-9399-C8A41960D4AE}" type="parTrans" cxnId="{1F9C5997-2F40-488E-B82C-92EDD7B049CB}">
      <dgm:prSet/>
      <dgm:spPr/>
      <dgm:t>
        <a:bodyPr/>
        <a:lstStyle/>
        <a:p>
          <a:endParaRPr lang="en-US"/>
        </a:p>
      </dgm:t>
    </dgm:pt>
    <dgm:pt modelId="{B384375B-2FA5-4E27-9891-CA942964471B}" type="sibTrans" cxnId="{1F9C5997-2F40-488E-B82C-92EDD7B049CB}">
      <dgm:prSet/>
      <dgm:spPr/>
      <dgm:t>
        <a:bodyPr/>
        <a:lstStyle/>
        <a:p>
          <a:endParaRPr lang="en-US"/>
        </a:p>
      </dgm:t>
    </dgm:pt>
    <dgm:pt modelId="{5FEC390B-69FF-4C34-AE80-DF221675EE02}">
      <dgm:prSet phldrT="[Text]"/>
      <dgm:spPr/>
      <dgm:t>
        <a:bodyPr/>
        <a:lstStyle/>
        <a:p>
          <a:r>
            <a:rPr lang="en-US" dirty="0" smtClean="0"/>
            <a:t>Generate personalized AI feedback</a:t>
          </a:r>
          <a:endParaRPr lang="en-US" dirty="0"/>
        </a:p>
      </dgm:t>
    </dgm:pt>
    <dgm:pt modelId="{9E5E2006-9FDA-454F-B468-BBEF6E86BFE2}" type="parTrans" cxnId="{5BC2516D-A5A8-42D2-88E1-9361C6CDBD89}">
      <dgm:prSet/>
      <dgm:spPr/>
      <dgm:t>
        <a:bodyPr/>
        <a:lstStyle/>
        <a:p>
          <a:endParaRPr lang="en-US"/>
        </a:p>
      </dgm:t>
    </dgm:pt>
    <dgm:pt modelId="{5F0AB59E-95F7-4FD3-8CE5-4517D78A6BB6}" type="sibTrans" cxnId="{5BC2516D-A5A8-42D2-88E1-9361C6CDBD89}">
      <dgm:prSet/>
      <dgm:spPr/>
      <dgm:t>
        <a:bodyPr/>
        <a:lstStyle/>
        <a:p>
          <a:endParaRPr lang="en-US"/>
        </a:p>
      </dgm:t>
    </dgm:pt>
    <dgm:pt modelId="{5A388843-1216-4B49-9101-AA14BBBF81B3}" type="pres">
      <dgm:prSet presAssocID="{7F425C74-C12E-4E54-9D4B-51C261D9A410}" presName="cycle" presStyleCnt="0">
        <dgm:presLayoutVars>
          <dgm:dir/>
          <dgm:resizeHandles val="exact"/>
        </dgm:presLayoutVars>
      </dgm:prSet>
      <dgm:spPr/>
    </dgm:pt>
    <dgm:pt modelId="{5E75723D-2563-4289-8120-753D447981F9}" type="pres">
      <dgm:prSet presAssocID="{1B6EEB6E-3AA4-464A-A57F-A26BE66AB646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D74067-28EC-4A05-B843-9A482F4F2CC4}" type="pres">
      <dgm:prSet presAssocID="{1B6EEB6E-3AA4-464A-A57F-A26BE66AB646}" presName="spNode" presStyleCnt="0"/>
      <dgm:spPr/>
    </dgm:pt>
    <dgm:pt modelId="{0E859FEA-F2D1-4202-B3B7-9134412ED125}" type="pres">
      <dgm:prSet presAssocID="{41CEE925-98EC-459A-8765-8EF3362E4B14}" presName="sibTrans" presStyleLbl="sibTrans1D1" presStyleIdx="0" presStyleCnt="5"/>
      <dgm:spPr/>
    </dgm:pt>
    <dgm:pt modelId="{2017B4DC-A9D8-4237-90CB-50947A4B9D07}" type="pres">
      <dgm:prSet presAssocID="{D8C68720-A26C-47D8-8DF0-B7C7C74E9B7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BA0EB7-8AA6-4FF0-81C3-28FB8DA0AA4D}" type="pres">
      <dgm:prSet presAssocID="{D8C68720-A26C-47D8-8DF0-B7C7C74E9B70}" presName="spNode" presStyleCnt="0"/>
      <dgm:spPr/>
    </dgm:pt>
    <dgm:pt modelId="{752D7D98-557A-41A0-B655-0D56BC7EEAB4}" type="pres">
      <dgm:prSet presAssocID="{81C817AE-C4DB-4102-A1A9-8BD41334FBBF}" presName="sibTrans" presStyleLbl="sibTrans1D1" presStyleIdx="1" presStyleCnt="5"/>
      <dgm:spPr/>
    </dgm:pt>
    <dgm:pt modelId="{636B16E3-2FC9-4051-83D4-3EB87F345ADF}" type="pres">
      <dgm:prSet presAssocID="{BBBA49A1-8228-4E8B-9EAE-3EBEB42F5D3C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9B42E9-0295-415E-866A-509F1262C53C}" type="pres">
      <dgm:prSet presAssocID="{BBBA49A1-8228-4E8B-9EAE-3EBEB42F5D3C}" presName="spNode" presStyleCnt="0"/>
      <dgm:spPr/>
    </dgm:pt>
    <dgm:pt modelId="{51B22F29-7759-42EA-85C9-06C10863A0D0}" type="pres">
      <dgm:prSet presAssocID="{BCE824F5-0F1B-4C43-A68B-BA36DA60FB87}" presName="sibTrans" presStyleLbl="sibTrans1D1" presStyleIdx="2" presStyleCnt="5"/>
      <dgm:spPr/>
    </dgm:pt>
    <dgm:pt modelId="{BFBA7CA3-D077-4C82-AAB3-5FE9FFA1F11D}" type="pres">
      <dgm:prSet presAssocID="{FBF5712D-D151-492A-81FD-3E6965B7DCC2}" presName="node" presStyleLbl="node1" presStyleIdx="3" presStyleCnt="5">
        <dgm:presLayoutVars>
          <dgm:bulletEnabled val="1"/>
        </dgm:presLayoutVars>
      </dgm:prSet>
      <dgm:spPr/>
    </dgm:pt>
    <dgm:pt modelId="{E83270B9-A465-400F-84CC-7BA1FB7AD29F}" type="pres">
      <dgm:prSet presAssocID="{FBF5712D-D151-492A-81FD-3E6965B7DCC2}" presName="spNode" presStyleCnt="0"/>
      <dgm:spPr/>
    </dgm:pt>
    <dgm:pt modelId="{F7088EA6-2315-4323-BC45-010D3DA56D72}" type="pres">
      <dgm:prSet presAssocID="{B384375B-2FA5-4E27-9891-CA942964471B}" presName="sibTrans" presStyleLbl="sibTrans1D1" presStyleIdx="3" presStyleCnt="5"/>
      <dgm:spPr/>
    </dgm:pt>
    <dgm:pt modelId="{B1E69C59-BBE0-47C8-8AF8-1FEF353A516C}" type="pres">
      <dgm:prSet presAssocID="{5FEC390B-69FF-4C34-AE80-DF221675EE02}" presName="node" presStyleLbl="node1" presStyleIdx="4" presStyleCnt="5">
        <dgm:presLayoutVars>
          <dgm:bulletEnabled val="1"/>
        </dgm:presLayoutVars>
      </dgm:prSet>
      <dgm:spPr/>
    </dgm:pt>
    <dgm:pt modelId="{A7997140-AF73-4FFA-BC90-D40A536A4468}" type="pres">
      <dgm:prSet presAssocID="{5FEC390B-69FF-4C34-AE80-DF221675EE02}" presName="spNode" presStyleCnt="0"/>
      <dgm:spPr/>
    </dgm:pt>
    <dgm:pt modelId="{7C41CD1C-2F17-4E3C-A031-50F553901AD7}" type="pres">
      <dgm:prSet presAssocID="{5F0AB59E-95F7-4FD3-8CE5-4517D78A6BB6}" presName="sibTrans" presStyleLbl="sibTrans1D1" presStyleIdx="4" presStyleCnt="5"/>
      <dgm:spPr/>
    </dgm:pt>
  </dgm:ptLst>
  <dgm:cxnLst>
    <dgm:cxn modelId="{9071B2C6-8112-4BCD-946C-E8F458ADC86D}" type="presOf" srcId="{5FEC390B-69FF-4C34-AE80-DF221675EE02}" destId="{B1E69C59-BBE0-47C8-8AF8-1FEF353A516C}" srcOrd="0" destOrd="0" presId="urn:microsoft.com/office/officeart/2005/8/layout/cycle6"/>
    <dgm:cxn modelId="{B3CE16B5-F3BA-4BB7-AAD2-16E247008D5D}" type="presOf" srcId="{5F0AB59E-95F7-4FD3-8CE5-4517D78A6BB6}" destId="{7C41CD1C-2F17-4E3C-A031-50F553901AD7}" srcOrd="0" destOrd="0" presId="urn:microsoft.com/office/officeart/2005/8/layout/cycle6"/>
    <dgm:cxn modelId="{AE4EFB1E-6ED8-42BC-9527-33D192209F22}" srcId="{7F425C74-C12E-4E54-9D4B-51C261D9A410}" destId="{BBBA49A1-8228-4E8B-9EAE-3EBEB42F5D3C}" srcOrd="2" destOrd="0" parTransId="{0AFCF64B-0809-42BD-A8ED-B07BA7D27623}" sibTransId="{BCE824F5-0F1B-4C43-A68B-BA36DA60FB87}"/>
    <dgm:cxn modelId="{5BC2516D-A5A8-42D2-88E1-9361C6CDBD89}" srcId="{7F425C74-C12E-4E54-9D4B-51C261D9A410}" destId="{5FEC390B-69FF-4C34-AE80-DF221675EE02}" srcOrd="4" destOrd="0" parTransId="{9E5E2006-9FDA-454F-B468-BBEF6E86BFE2}" sibTransId="{5F0AB59E-95F7-4FD3-8CE5-4517D78A6BB6}"/>
    <dgm:cxn modelId="{1BD1B0F3-B67F-4080-8B32-BA82E275F2DA}" srcId="{7F425C74-C12E-4E54-9D4B-51C261D9A410}" destId="{D8C68720-A26C-47D8-8DF0-B7C7C74E9B70}" srcOrd="1" destOrd="0" parTransId="{0FE59156-F5E6-4F9F-A6CD-A23F1A38EBCC}" sibTransId="{81C817AE-C4DB-4102-A1A9-8BD41334FBBF}"/>
    <dgm:cxn modelId="{212B2562-12B1-42B1-B13F-C04B2F55F622}" type="presOf" srcId="{BCE824F5-0F1B-4C43-A68B-BA36DA60FB87}" destId="{51B22F29-7759-42EA-85C9-06C10863A0D0}" srcOrd="0" destOrd="0" presId="urn:microsoft.com/office/officeart/2005/8/layout/cycle6"/>
    <dgm:cxn modelId="{B0F94444-46F0-418F-92F9-D4283F6D7706}" type="presOf" srcId="{41CEE925-98EC-459A-8765-8EF3362E4B14}" destId="{0E859FEA-F2D1-4202-B3B7-9134412ED125}" srcOrd="0" destOrd="0" presId="urn:microsoft.com/office/officeart/2005/8/layout/cycle6"/>
    <dgm:cxn modelId="{03E7D8CD-B43E-4237-8C70-8657252AAB19}" type="presOf" srcId="{D8C68720-A26C-47D8-8DF0-B7C7C74E9B70}" destId="{2017B4DC-A9D8-4237-90CB-50947A4B9D07}" srcOrd="0" destOrd="0" presId="urn:microsoft.com/office/officeart/2005/8/layout/cycle6"/>
    <dgm:cxn modelId="{6C97A704-18DB-4C9A-BCF2-EB6FA517FD3B}" type="presOf" srcId="{81C817AE-C4DB-4102-A1A9-8BD41334FBBF}" destId="{752D7D98-557A-41A0-B655-0D56BC7EEAB4}" srcOrd="0" destOrd="0" presId="urn:microsoft.com/office/officeart/2005/8/layout/cycle6"/>
    <dgm:cxn modelId="{1C175BF9-130D-41C5-B1E1-1BACA8F6B726}" type="presOf" srcId="{BBBA49A1-8228-4E8B-9EAE-3EBEB42F5D3C}" destId="{636B16E3-2FC9-4051-83D4-3EB87F345ADF}" srcOrd="0" destOrd="0" presId="urn:microsoft.com/office/officeart/2005/8/layout/cycle6"/>
    <dgm:cxn modelId="{C49DB520-058D-4B26-82E1-8D355859D465}" type="presOf" srcId="{7F425C74-C12E-4E54-9D4B-51C261D9A410}" destId="{5A388843-1216-4B49-9101-AA14BBBF81B3}" srcOrd="0" destOrd="0" presId="urn:microsoft.com/office/officeart/2005/8/layout/cycle6"/>
    <dgm:cxn modelId="{01EEEA11-5719-4AD8-88C6-C7C85BDA4B9E}" type="presOf" srcId="{FBF5712D-D151-492A-81FD-3E6965B7DCC2}" destId="{BFBA7CA3-D077-4C82-AAB3-5FE9FFA1F11D}" srcOrd="0" destOrd="0" presId="urn:microsoft.com/office/officeart/2005/8/layout/cycle6"/>
    <dgm:cxn modelId="{EF72B1D5-A474-4EA8-ACE4-706C3E8CA5EA}" type="presOf" srcId="{1B6EEB6E-3AA4-464A-A57F-A26BE66AB646}" destId="{5E75723D-2563-4289-8120-753D447981F9}" srcOrd="0" destOrd="0" presId="urn:microsoft.com/office/officeart/2005/8/layout/cycle6"/>
    <dgm:cxn modelId="{7ECBC0C5-BBB7-4ACD-8088-D8C760AA8CAB}" srcId="{7F425C74-C12E-4E54-9D4B-51C261D9A410}" destId="{1B6EEB6E-3AA4-464A-A57F-A26BE66AB646}" srcOrd="0" destOrd="0" parTransId="{667B2B30-2D63-44FE-BBAF-0D3845A26A9E}" sibTransId="{41CEE925-98EC-459A-8765-8EF3362E4B14}"/>
    <dgm:cxn modelId="{1F9C5997-2F40-488E-B82C-92EDD7B049CB}" srcId="{7F425C74-C12E-4E54-9D4B-51C261D9A410}" destId="{FBF5712D-D151-492A-81FD-3E6965B7DCC2}" srcOrd="3" destOrd="0" parTransId="{A542FD49-DFDC-4AEA-9399-C8A41960D4AE}" sibTransId="{B384375B-2FA5-4E27-9891-CA942964471B}"/>
    <dgm:cxn modelId="{D61AA120-75EE-4641-B1CF-4CBB708B22C6}" type="presOf" srcId="{B384375B-2FA5-4E27-9891-CA942964471B}" destId="{F7088EA6-2315-4323-BC45-010D3DA56D72}" srcOrd="0" destOrd="0" presId="urn:microsoft.com/office/officeart/2005/8/layout/cycle6"/>
    <dgm:cxn modelId="{E9233A92-5A15-4A4A-B89D-E29212CF2527}" type="presParOf" srcId="{5A388843-1216-4B49-9101-AA14BBBF81B3}" destId="{5E75723D-2563-4289-8120-753D447981F9}" srcOrd="0" destOrd="0" presId="urn:microsoft.com/office/officeart/2005/8/layout/cycle6"/>
    <dgm:cxn modelId="{C65D2C57-37FF-4E94-A68E-B56D0D45CDB6}" type="presParOf" srcId="{5A388843-1216-4B49-9101-AA14BBBF81B3}" destId="{E9D74067-28EC-4A05-B843-9A482F4F2CC4}" srcOrd="1" destOrd="0" presId="urn:microsoft.com/office/officeart/2005/8/layout/cycle6"/>
    <dgm:cxn modelId="{34F58907-3C8F-4177-B687-F506C89F5712}" type="presParOf" srcId="{5A388843-1216-4B49-9101-AA14BBBF81B3}" destId="{0E859FEA-F2D1-4202-B3B7-9134412ED125}" srcOrd="2" destOrd="0" presId="urn:microsoft.com/office/officeart/2005/8/layout/cycle6"/>
    <dgm:cxn modelId="{3D7D84C2-3BC1-4928-9B8A-B0DF04B660D8}" type="presParOf" srcId="{5A388843-1216-4B49-9101-AA14BBBF81B3}" destId="{2017B4DC-A9D8-4237-90CB-50947A4B9D07}" srcOrd="3" destOrd="0" presId="urn:microsoft.com/office/officeart/2005/8/layout/cycle6"/>
    <dgm:cxn modelId="{4E4153F3-1008-4084-9CD2-CC011A1F7816}" type="presParOf" srcId="{5A388843-1216-4B49-9101-AA14BBBF81B3}" destId="{99BA0EB7-8AA6-4FF0-81C3-28FB8DA0AA4D}" srcOrd="4" destOrd="0" presId="urn:microsoft.com/office/officeart/2005/8/layout/cycle6"/>
    <dgm:cxn modelId="{E667E7FF-6410-4356-89AB-3FBD68BA61C5}" type="presParOf" srcId="{5A388843-1216-4B49-9101-AA14BBBF81B3}" destId="{752D7D98-557A-41A0-B655-0D56BC7EEAB4}" srcOrd="5" destOrd="0" presId="urn:microsoft.com/office/officeart/2005/8/layout/cycle6"/>
    <dgm:cxn modelId="{15847258-1176-445A-A7D8-E5E0E4B47E41}" type="presParOf" srcId="{5A388843-1216-4B49-9101-AA14BBBF81B3}" destId="{636B16E3-2FC9-4051-83D4-3EB87F345ADF}" srcOrd="6" destOrd="0" presId="urn:microsoft.com/office/officeart/2005/8/layout/cycle6"/>
    <dgm:cxn modelId="{C1B4B496-4631-4A2C-8003-EF5641085B39}" type="presParOf" srcId="{5A388843-1216-4B49-9101-AA14BBBF81B3}" destId="{A59B42E9-0295-415E-866A-509F1262C53C}" srcOrd="7" destOrd="0" presId="urn:microsoft.com/office/officeart/2005/8/layout/cycle6"/>
    <dgm:cxn modelId="{E6FC2D66-F6E2-4DCD-ADDA-54F77686749C}" type="presParOf" srcId="{5A388843-1216-4B49-9101-AA14BBBF81B3}" destId="{51B22F29-7759-42EA-85C9-06C10863A0D0}" srcOrd="8" destOrd="0" presId="urn:microsoft.com/office/officeart/2005/8/layout/cycle6"/>
    <dgm:cxn modelId="{08EA66D4-3AD1-4D6D-BA75-459A0FE519B2}" type="presParOf" srcId="{5A388843-1216-4B49-9101-AA14BBBF81B3}" destId="{BFBA7CA3-D077-4C82-AAB3-5FE9FFA1F11D}" srcOrd="9" destOrd="0" presId="urn:microsoft.com/office/officeart/2005/8/layout/cycle6"/>
    <dgm:cxn modelId="{4E915C5B-F2FD-46CA-8ADE-AFC06EC4D108}" type="presParOf" srcId="{5A388843-1216-4B49-9101-AA14BBBF81B3}" destId="{E83270B9-A465-400F-84CC-7BA1FB7AD29F}" srcOrd="10" destOrd="0" presId="urn:microsoft.com/office/officeart/2005/8/layout/cycle6"/>
    <dgm:cxn modelId="{A9BA3C1F-A4BB-490E-96CB-459F99A192B5}" type="presParOf" srcId="{5A388843-1216-4B49-9101-AA14BBBF81B3}" destId="{F7088EA6-2315-4323-BC45-010D3DA56D72}" srcOrd="11" destOrd="0" presId="urn:microsoft.com/office/officeart/2005/8/layout/cycle6"/>
    <dgm:cxn modelId="{014C003C-10C1-49BF-82AA-93E2A1B1D799}" type="presParOf" srcId="{5A388843-1216-4B49-9101-AA14BBBF81B3}" destId="{B1E69C59-BBE0-47C8-8AF8-1FEF353A516C}" srcOrd="12" destOrd="0" presId="urn:microsoft.com/office/officeart/2005/8/layout/cycle6"/>
    <dgm:cxn modelId="{1382E779-7B6C-417E-8EEC-616A933016B3}" type="presParOf" srcId="{5A388843-1216-4B49-9101-AA14BBBF81B3}" destId="{A7997140-AF73-4FFA-BC90-D40A536A4468}" srcOrd="13" destOrd="0" presId="urn:microsoft.com/office/officeart/2005/8/layout/cycle6"/>
    <dgm:cxn modelId="{433D02F6-691C-4E86-832A-181E49B21175}" type="presParOf" srcId="{5A388843-1216-4B49-9101-AA14BBBF81B3}" destId="{7C41CD1C-2F17-4E3C-A031-50F553901AD7}" srcOrd="14" destOrd="0" presId="urn:microsoft.com/office/officeart/2005/8/layout/cycle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BDC41-A489-4AB4-9177-A2EC4F85B119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5B24-36F6-4C46-AFCF-D64F336A012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7" Type="http://schemas.openxmlformats.org/officeDocument/2006/relationships/hyperlink" Target="https://www.kaggle.com/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seaborn.pydata.org/" TargetMode="External"/><Relationship Id="rId5" Type="http://schemas.openxmlformats.org/officeDocument/2006/relationships/hyperlink" Target="https://matplotlib.org/stable/" TargetMode="External"/><Relationship Id="rId4" Type="http://schemas.openxmlformats.org/officeDocument/2006/relationships/hyperlink" Target="https://numpy.org/doc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Summer Internship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at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AICW,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Edunet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Foundation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900122"/>
          </a:xfrm>
        </p:spPr>
        <p:txBody>
          <a:bodyPr>
            <a:normAutofit/>
          </a:bodyPr>
          <a:lstStyle/>
          <a:p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S.N. Patel Institute of Technology (SNPIT), </a:t>
            </a:r>
            <a:r>
              <a:rPr lang="en-US" sz="1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Bardoli</a:t>
            </a:r>
            <a:endParaRPr lang="en-US" sz="1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1500166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Screenshot 2026-02-02 1320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512" y="0"/>
            <a:ext cx="1533488" cy="15716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472" y="4929198"/>
            <a:ext cx="8001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Guided by                                                                                          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Prof.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Hemangini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A. Patel                                                        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Dhruti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Vipulbhai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Soni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Internal Guide                                                                                       (230490131112)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Outline: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757742" cy="452596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Introduction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Company’s Introduction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Objectives of Internship’s Project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Project Overview &amp; Problem Statement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System Architecture &amp; Workflow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Data Collection &amp; Preprocessing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Student Performance &amp; Learning Progress Analysis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AI-Based Insights &amp; Personalized Recommendations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Data Visualization &amp; Interactive Dashboard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Challenges &amp;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Learnings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Future Scope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C:\Users\sahil\OneDrive\Pictures\Screenshots\Screenshot 2025-08-24 145909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29256" y="1428736"/>
            <a:ext cx="3257544" cy="45005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8100"/>
            <a:ext cx="9144000" cy="27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Company’s Introduction: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6" name="AutoShape 2" descr="Image result for edunet found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Image result for edunet found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Image result for edunet found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Image result for edunet found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71472" y="1500174"/>
            <a:ext cx="81439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Edunet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Foundation is a non-profit organization working in the areas of skilling, livelihood enhancement, and STEM education. 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AICW is a national initiative by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Edunet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Foundation that empowers Non-STEM women with future-ready AI skills, mentorship, and certification, delivered in collaboration with Microsoft, SAP and LinkedIn, with support from the Ministry of Skill Development &amp; Entrepreneurship.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Official designation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AI Intern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Duration: 4 weeks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(06-07-2026 to 31-07-2026)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Mode: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Offline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microsoft_PNG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6116" y="5357826"/>
            <a:ext cx="2748075" cy="6429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Objectives of Internship’s Project: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1500166" y="178592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Technology Stack: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3714744" y="3000372"/>
            <a:ext cx="1714512" cy="164307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29388" y="3357562"/>
            <a:ext cx="1428760" cy="85725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 smtClean="0">
                <a:latin typeface="Times New Roman" pitchFamily="18" charset="0"/>
                <a:cs typeface="Times New Roman" pitchFamily="18" charset="0"/>
              </a:rPr>
              <a:t>Visualization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Seaborn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Plotly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57620" y="5072074"/>
            <a:ext cx="1428760" cy="85725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 smtClean="0">
                <a:latin typeface="Times New Roman" pitchFamily="18" charset="0"/>
                <a:cs typeface="Times New Roman" pitchFamily="18" charset="0"/>
              </a:rPr>
              <a:t>Application</a:t>
            </a: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Streamlit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86182" y="1714488"/>
            <a:ext cx="1428760" cy="85725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b="1" dirty="0" smtClean="0">
                <a:latin typeface="Times New Roman" pitchFamily="18" charset="0"/>
                <a:cs typeface="Times New Roman" pitchFamily="18" charset="0"/>
              </a:rPr>
              <a:t>Data Processing</a:t>
            </a:r>
            <a:endParaRPr lang="pt-BR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1100" dirty="0" smtClean="0">
                <a:latin typeface="Times New Roman" pitchFamily="18" charset="0"/>
                <a:cs typeface="Times New Roman" pitchFamily="18" charset="0"/>
              </a:rPr>
              <a:t>Pandas </a:t>
            </a:r>
          </a:p>
          <a:p>
            <a:r>
              <a:rPr lang="pt-BR" sz="1100" dirty="0" smtClean="0">
                <a:latin typeface="Times New Roman" pitchFamily="18" charset="0"/>
                <a:cs typeface="Times New Roman" pitchFamily="18" charset="0"/>
              </a:rPr>
              <a:t>NumPy </a:t>
            </a:r>
          </a:p>
          <a:p>
            <a:r>
              <a:rPr lang="pt-BR" sz="1100" dirty="0" smtClean="0">
                <a:latin typeface="Times New Roman" pitchFamily="18" charset="0"/>
                <a:cs typeface="Times New Roman" pitchFamily="18" charset="0"/>
              </a:rPr>
              <a:t>CSV</a:t>
            </a:r>
            <a:endParaRPr lang="pt-BR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57290" y="3357562"/>
            <a:ext cx="1428760" cy="85725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b="1" dirty="0" smtClean="0">
                <a:latin typeface="Times New Roman" pitchFamily="18" charset="0"/>
                <a:cs typeface="Times New Roman" pitchFamily="18" charset="0"/>
              </a:rPr>
              <a:t>Data Processing</a:t>
            </a:r>
            <a:endParaRPr lang="pt-BR" sz="1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1100" dirty="0" smtClean="0">
                <a:latin typeface="Times New Roman" pitchFamily="18" charset="0"/>
                <a:cs typeface="Times New Roman" pitchFamily="18" charset="0"/>
              </a:rPr>
              <a:t>Pandas </a:t>
            </a:r>
          </a:p>
          <a:p>
            <a:r>
              <a:rPr lang="pt-BR" sz="1100" dirty="0" smtClean="0">
                <a:latin typeface="Times New Roman" pitchFamily="18" charset="0"/>
                <a:cs typeface="Times New Roman" pitchFamily="18" charset="0"/>
              </a:rPr>
              <a:t>NumPy </a:t>
            </a:r>
          </a:p>
          <a:p>
            <a:r>
              <a:rPr lang="pt-BR" sz="1100" dirty="0" smtClean="0">
                <a:latin typeface="Times New Roman" pitchFamily="18" charset="0"/>
                <a:cs typeface="Times New Roman" pitchFamily="18" charset="0"/>
              </a:rPr>
              <a:t>CSV</a:t>
            </a:r>
            <a:endParaRPr lang="pt-BR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Notched Right Arrow 9"/>
          <p:cNvSpPr/>
          <p:nvPr/>
        </p:nvSpPr>
        <p:spPr>
          <a:xfrm>
            <a:off x="5643570" y="3643314"/>
            <a:ext cx="500066" cy="28575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otched Right Arrow 10"/>
          <p:cNvSpPr/>
          <p:nvPr/>
        </p:nvSpPr>
        <p:spPr>
          <a:xfrm rot="10800000">
            <a:off x="3000364" y="3643314"/>
            <a:ext cx="500066" cy="28575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Notched Right Arrow 11"/>
          <p:cNvSpPr/>
          <p:nvPr/>
        </p:nvSpPr>
        <p:spPr>
          <a:xfrm rot="16200000">
            <a:off x="4429124" y="2643182"/>
            <a:ext cx="285752" cy="28575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Notched Right Arrow 12"/>
          <p:cNvSpPr/>
          <p:nvPr/>
        </p:nvSpPr>
        <p:spPr>
          <a:xfrm rot="5400000">
            <a:off x="4429124" y="4714884"/>
            <a:ext cx="285752" cy="28575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Project Overview &amp; Problem Statement: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Project Overview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Project The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AI Student Performance &amp; Learning Progress Tracker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is a Python-based data analytics and AI application developed to monitor and analyze students' academic performance and learning activities. The system processes student data, performs performance and progress analysis, generates personalized AI-based feedback, and presents the results through an interactive dashboard.</a:t>
            </a:r>
          </a:p>
          <a:p>
            <a:pPr algn="just"/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The project uses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Python, Pandas,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Seaborn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Plotly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, and Google Gemini API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 It combines rule-based analysis with Gemini-powered feedback to provide meaningful insights into students' strengths and areas for improvement.</a:t>
            </a:r>
          </a:p>
          <a:p>
            <a:pPr algn="just"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Traditional student performance evaluation mainly focuses on examination marks and may not provide a complete picture of a student's learning progress. Factors such as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attendance, quiz performance, study hours, and previous academic performance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also need to be considered.</a:t>
            </a:r>
          </a:p>
          <a:p>
            <a:pPr algn="just"/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Manually analyzing these parameters for a large number of students can be time-consuming and makes it difficult to identify students who require additional support. There is also a need for personalized and easily understandable feedback rather than only numerical results.</a:t>
            </a:r>
          </a:p>
          <a:p>
            <a:pPr algn="just"/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 Architecture &amp; Workflow: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Gemini_Generated_Image_1qpw8s1qpw8s1qpw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1256650"/>
            <a:ext cx="7572428" cy="4344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Dataset &amp; Data Preprocessing: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428736"/>
            <a:ext cx="5304947" cy="27860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/>
          <p:cNvSpPr txBox="1"/>
          <p:nvPr/>
        </p:nvSpPr>
        <p:spPr>
          <a:xfrm>
            <a:off x="571472" y="4286256"/>
            <a:ext cx="79296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Dataset contains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5,000 student records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Loaded student dataset using Pandas.</a:t>
            </a:r>
          </a:p>
          <a:p>
            <a:pPr>
              <a:buFont typeface="Wingdings" pitchFamily="2" charset="2"/>
              <a:buChar char="§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Inspected dataset structure using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info(), shape(),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describe().</a:t>
            </a:r>
          </a:p>
          <a:p>
            <a:pPr>
              <a:buFont typeface="Wingdings" pitchFamily="2" charset="2"/>
              <a:buChar char="§"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Validated score ranges between 0 and 100.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Student Performance &amp; Learning Progress Analysis:</a:t>
            </a:r>
            <a:endParaRPr lang="en-US" sz="2800" dirty="0"/>
          </a:p>
        </p:txBody>
      </p:sp>
      <p:sp>
        <p:nvSpPr>
          <p:cNvPr id="3" name="Rounded Rectangle 2"/>
          <p:cNvSpPr/>
          <p:nvPr/>
        </p:nvSpPr>
        <p:spPr>
          <a:xfrm>
            <a:off x="571472" y="1357298"/>
            <a:ext cx="2286016" cy="5000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Performance Parameters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357290" y="2071678"/>
            <a:ext cx="2286016" cy="5000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Subject Scores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57290" y="2714620"/>
            <a:ext cx="2286016" cy="5000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Quiz Scores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57290" y="3357562"/>
            <a:ext cx="2286016" cy="5000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Previous Year Scores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57290" y="4000504"/>
            <a:ext cx="2286016" cy="5000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Final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Prercentage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57290" y="4643446"/>
            <a:ext cx="2286016" cy="5000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Performance Level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57290" y="5286388"/>
            <a:ext cx="2286016" cy="5000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Pass / Fail Status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hape 10"/>
          <p:cNvCxnSpPr>
            <a:endCxn id="9" idx="1"/>
          </p:cNvCxnSpPr>
          <p:nvPr/>
        </p:nvCxnSpPr>
        <p:spPr>
          <a:xfrm rot="16200000" flipH="1">
            <a:off x="-732271" y="3446859"/>
            <a:ext cx="3679057" cy="5000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hape 15"/>
          <p:cNvCxnSpPr>
            <a:endCxn id="8" idx="1"/>
          </p:cNvCxnSpPr>
          <p:nvPr/>
        </p:nvCxnSpPr>
        <p:spPr>
          <a:xfrm rot="16200000" flipH="1">
            <a:off x="-410800" y="3125388"/>
            <a:ext cx="3036115" cy="5000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endCxn id="7" idx="1"/>
          </p:cNvCxnSpPr>
          <p:nvPr/>
        </p:nvCxnSpPr>
        <p:spPr>
          <a:xfrm rot="16200000" flipH="1">
            <a:off x="-53610" y="2839636"/>
            <a:ext cx="2321735" cy="5000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hape 21"/>
          <p:cNvCxnSpPr>
            <a:endCxn id="6" idx="1"/>
          </p:cNvCxnSpPr>
          <p:nvPr/>
        </p:nvCxnSpPr>
        <p:spPr>
          <a:xfrm rot="16200000" flipH="1">
            <a:off x="232142" y="2482446"/>
            <a:ext cx="1750231" cy="5000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hape 23"/>
          <p:cNvCxnSpPr>
            <a:endCxn id="5" idx="1"/>
          </p:cNvCxnSpPr>
          <p:nvPr/>
        </p:nvCxnSpPr>
        <p:spPr>
          <a:xfrm rot="16200000" flipH="1">
            <a:off x="553613" y="2160975"/>
            <a:ext cx="1107289" cy="5000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endCxn id="4" idx="1"/>
          </p:cNvCxnSpPr>
          <p:nvPr/>
        </p:nvCxnSpPr>
        <p:spPr>
          <a:xfrm>
            <a:off x="857224" y="1857364"/>
            <a:ext cx="500066" cy="464347"/>
          </a:xfrm>
          <a:prstGeom prst="bentConnector3">
            <a:avLst>
              <a:gd name="adj1" fmla="val 44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000496" y="2071678"/>
          <a:ext cx="4881554" cy="31140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85950"/>
                <a:gridCol w="3095604"/>
              </a:tblGrid>
              <a:tr h="36847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Method Used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Calculations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2638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mean() 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Average Percentage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2638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max() 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Highest Percentage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2638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min()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Lowest Percentage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26385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value_counts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()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Pass/Fail &amp; Performance Distribution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26385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idxmax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()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Top Student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 Performance &amp; Learning Progress Analysis (Conti..):</a:t>
            </a:r>
            <a:endParaRPr lang="en-US" sz="2400" dirty="0"/>
          </a:p>
        </p:txBody>
      </p:sp>
      <p:pic>
        <p:nvPicPr>
          <p:cNvPr id="17" name="Picture 16" descr="cod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034" y="1214422"/>
            <a:ext cx="3802379" cy="2851784"/>
          </a:xfrm>
          <a:prstGeom prst="rect">
            <a:avLst/>
          </a:prstGeom>
        </p:spPr>
      </p:pic>
      <p:pic>
        <p:nvPicPr>
          <p:cNvPr id="19" name="Picture 18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348" y="3291836"/>
            <a:ext cx="3992652" cy="3566164"/>
          </a:xfrm>
          <a:prstGeom prst="rect">
            <a:avLst/>
          </a:prstGeom>
        </p:spPr>
      </p:pic>
      <p:sp>
        <p:nvSpPr>
          <p:cNvPr id="21" name="Up Arrow 20"/>
          <p:cNvSpPr/>
          <p:nvPr/>
        </p:nvSpPr>
        <p:spPr>
          <a:xfrm>
            <a:off x="2214546" y="4286256"/>
            <a:ext cx="428628" cy="571504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428728" y="500063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Attendance Count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Up Arrow 24"/>
          <p:cNvSpPr/>
          <p:nvPr/>
        </p:nvSpPr>
        <p:spPr>
          <a:xfrm rot="10800000">
            <a:off x="6929454" y="2285992"/>
            <a:ext cx="428628" cy="57150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500694" y="1643050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Quiz Analysis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8596" y="5500702"/>
            <a:ext cx="4500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 smtClean="0"/>
              <a:t> The system classifies attendance, quiz scores, and study hours and combines these results to determine the student's overall progress.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Student Performance &amp; Learning Progress Analysis (Conti..):</a:t>
            </a:r>
            <a:endParaRPr lang="en-US" sz="2400" dirty="0"/>
          </a:p>
        </p:txBody>
      </p:sp>
      <p:sp>
        <p:nvSpPr>
          <p:cNvPr id="21" name="Up Arrow 20"/>
          <p:cNvSpPr/>
          <p:nvPr/>
        </p:nvSpPr>
        <p:spPr>
          <a:xfrm rot="10800000">
            <a:off x="7143768" y="3357562"/>
            <a:ext cx="428628" cy="571504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286512" y="292893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Hours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Up Arrow 24"/>
          <p:cNvSpPr/>
          <p:nvPr/>
        </p:nvSpPr>
        <p:spPr>
          <a:xfrm rot="5400000">
            <a:off x="4857752" y="1714488"/>
            <a:ext cx="428628" cy="57150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99589" y="4077654"/>
            <a:ext cx="3544411" cy="27803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72132" y="1785926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Overall Progress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6" y="1214422"/>
            <a:ext cx="4143404" cy="56435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514350" indent="-514350" algn="l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AI-Based Insights &amp; Personalized Recommendations: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2910" y="1785926"/>
            <a:ext cx="1714512" cy="8572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Data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86050" y="1785926"/>
            <a:ext cx="1714512" cy="8572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Progress 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29190" y="1785926"/>
            <a:ext cx="1714512" cy="8572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Status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929190" y="3000372"/>
            <a:ext cx="1714512" cy="8572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Prompt Construction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86050" y="3000372"/>
            <a:ext cx="1714512" cy="8572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Gemini API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2910" y="3000372"/>
            <a:ext cx="1714512" cy="85725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AI Academic Feedback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Elbow Connector 9"/>
          <p:cNvCxnSpPr>
            <a:stCxn id="3" idx="3"/>
            <a:endCxn id="4" idx="1"/>
          </p:cNvCxnSpPr>
          <p:nvPr/>
        </p:nvCxnSpPr>
        <p:spPr>
          <a:xfrm>
            <a:off x="2357422" y="2214554"/>
            <a:ext cx="428628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>
            <a:off x="4500562" y="2214554"/>
            <a:ext cx="428628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7" idx="1"/>
            <a:endCxn id="8" idx="3"/>
          </p:cNvCxnSpPr>
          <p:nvPr/>
        </p:nvCxnSpPr>
        <p:spPr>
          <a:xfrm rot="10800000">
            <a:off x="2357422" y="3429000"/>
            <a:ext cx="428628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6" idx="1"/>
            <a:endCxn id="7" idx="3"/>
          </p:cNvCxnSpPr>
          <p:nvPr/>
        </p:nvCxnSpPr>
        <p:spPr>
          <a:xfrm rot="10800000">
            <a:off x="4500562" y="3429000"/>
            <a:ext cx="428628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5" idx="2"/>
            <a:endCxn id="6" idx="0"/>
          </p:cNvCxnSpPr>
          <p:nvPr/>
        </p:nvCxnSpPr>
        <p:spPr>
          <a:xfrm rot="5400000">
            <a:off x="5607851" y="2821777"/>
            <a:ext cx="35719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2910" y="4357694"/>
            <a:ext cx="7572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rule-based module first converts raw values into meaningful statuses. These results are then provided to Gemini through a structured prompt. Gemini acts as an academic mentor and generates simple, practical, and personalized feedback.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Data Visualization &amp; Interactive Dashboard:</a:t>
            </a:r>
            <a:endParaRPr lang="en-US" sz="32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14422"/>
            <a:ext cx="7858148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000100" y="5500702"/>
            <a:ext cx="742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Figure 1: Dashboard showing comparison of Study hrs.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final % using line scatter analysis &amp; average student performance using bar graph.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Visualization &amp; Interactive Dashboard (Conti..):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000100" y="5500702"/>
            <a:ext cx="742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Figure 2: Dashboard showing Pass / Fail distribution using pie chart &amp; attendance distribution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historgram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214422"/>
            <a:ext cx="7786742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Visualization &amp; Interactive Dashboard (Conti..):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000100" y="5500702"/>
            <a:ext cx="742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Figure 3: Dashboard showing Student performance correlation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14421"/>
            <a:ext cx="7643866" cy="428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Visualization &amp; Interactive Dashboard (Conti..):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000100" y="5500702"/>
            <a:ext cx="742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Figure 4: Student dashboard.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85860"/>
            <a:ext cx="771530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Challenges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Learnings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Challenges: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Raw dataset required validation.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Large dataset difficult to analyze manually.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Academic scores alone were insufficient.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Rule-based output was limited.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Static analysis was difficult to explore.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Large amount of information.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Learnings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Python programming.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Automated Calculations using python.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 Integration.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Using of charts &amp; KPIs.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processing.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visualization.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Future Scope: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571612"/>
            <a:ext cx="7286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Machine Learning-based performance prediction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Student login system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Advanced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dashboard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PDF report generation Email notifications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Database integration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detailed student progress tracking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Historical progress comparison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428736"/>
            <a:ext cx="78581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project successfully combines data preprocessing, academic performance analysis, learning-progress tracking, AI-generated feedback, and data visualization into a single application. Through this project, we gained practical experience in Python, data analytics, visualization, API integration,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application development. The system demonstrates how student data can be converted into meaningful insights and personalized learning recommendations.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910" y="1643050"/>
            <a:ext cx="80724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[1] Python Official Documentation. Available: </a:t>
            </a:r>
            <a:r>
              <a:rPr lang="en-US" dirty="0">
                <a:hlinkClick r:id="rId2"/>
              </a:rPr>
              <a:t>https://docs.python.org/3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[2] Pandas Official Documentation. Available: </a:t>
            </a:r>
            <a:r>
              <a:rPr lang="en-US" dirty="0">
                <a:hlinkClick r:id="rId3"/>
              </a:rPr>
              <a:t>https://pandas.pydata.org/docs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[3] </a:t>
            </a:r>
            <a:r>
              <a:rPr lang="en-US" dirty="0" err="1" smtClean="0"/>
              <a:t>NumPy</a:t>
            </a:r>
            <a:r>
              <a:rPr lang="en-US" dirty="0" smtClean="0"/>
              <a:t> Official Documentation. Available: </a:t>
            </a:r>
            <a:r>
              <a:rPr lang="en-US" dirty="0">
                <a:hlinkClick r:id="rId4"/>
              </a:rPr>
              <a:t>https://numpy.org/doc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[4] </a:t>
            </a:r>
            <a:r>
              <a:rPr lang="en-US" dirty="0" err="1" smtClean="0"/>
              <a:t>Matplot</a:t>
            </a:r>
            <a:r>
              <a:rPr lang="en-US" dirty="0" smtClean="0"/>
              <a:t> Lib Official Documentation. Available: </a:t>
            </a:r>
            <a:r>
              <a:rPr lang="en-US" dirty="0">
                <a:hlinkClick r:id="rId5"/>
              </a:rPr>
              <a:t>https://matplotlib.org/stable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[5] </a:t>
            </a:r>
            <a:r>
              <a:rPr lang="en-US" dirty="0" err="1" smtClean="0"/>
              <a:t>Seaborn</a:t>
            </a:r>
            <a:r>
              <a:rPr lang="en-US" dirty="0" smtClean="0"/>
              <a:t> Official Documentation. Available: </a:t>
            </a:r>
            <a:r>
              <a:rPr lang="en-US" dirty="0">
                <a:hlinkClick r:id="rId6"/>
              </a:rPr>
              <a:t>https://seaborn.pydata.org</a:t>
            </a:r>
            <a:r>
              <a:rPr lang="en-US" dirty="0" smtClean="0">
                <a:hlinkClick r:id="rId6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[6] </a:t>
            </a:r>
            <a:r>
              <a:rPr lang="en-US" dirty="0" err="1" smtClean="0"/>
              <a:t>Kaggle</a:t>
            </a:r>
            <a:r>
              <a:rPr lang="en-US" dirty="0" smtClean="0"/>
              <a:t> Official Documentation. Available: </a:t>
            </a:r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www.kaggle.com/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5984" y="2285992"/>
            <a:ext cx="42862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algn="ctr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*****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957</Words>
  <Application>Microsoft Office PowerPoint</Application>
  <PresentationFormat>On-screen Show (4:3)</PresentationFormat>
  <Paragraphs>150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Summer Internship at AICW, Edunet Foundation </vt:lpstr>
      <vt:lpstr>Outline:</vt:lpstr>
      <vt:lpstr>Company’s Introduction:</vt:lpstr>
      <vt:lpstr>Objectives of Internship’s Project:</vt:lpstr>
      <vt:lpstr>Technology Stack:</vt:lpstr>
      <vt:lpstr>Project Overview &amp; Problem Statement:</vt:lpstr>
      <vt:lpstr>System Architecture &amp; Workflow:</vt:lpstr>
      <vt:lpstr>Dataset &amp; Data Preprocessing:</vt:lpstr>
      <vt:lpstr>Student Performance &amp; Learning Progress Analysis:</vt:lpstr>
      <vt:lpstr>Student Performance &amp; Learning Progress Analysis (Conti..):</vt:lpstr>
      <vt:lpstr>Student Performance &amp; Learning Progress Analysis (Conti..):</vt:lpstr>
      <vt:lpstr>AI-Based Insights &amp; Personalized Recommendations:</vt:lpstr>
      <vt:lpstr>Data Visualization &amp; Interactive Dashboard:</vt:lpstr>
      <vt:lpstr>Data Visualization &amp; Interactive Dashboard (Conti..):</vt:lpstr>
      <vt:lpstr>Data Visualization &amp; Interactive Dashboard (Conti..):</vt:lpstr>
      <vt:lpstr>Data Visualization &amp; Interactive Dashboard (Conti..):</vt:lpstr>
      <vt:lpstr>Challenges and Learnings:</vt:lpstr>
      <vt:lpstr>Future Scope:</vt:lpstr>
      <vt:lpstr>Conclusion:</vt:lpstr>
      <vt:lpstr>References: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Internship at AICW, Edunet Foundation</dc:title>
  <dc:creator>sahil kayasth</dc:creator>
  <cp:lastModifiedBy>sahil kayasth</cp:lastModifiedBy>
  <cp:revision>22</cp:revision>
  <dcterms:created xsi:type="dcterms:W3CDTF">2026-08-23T11:45:38Z</dcterms:created>
  <dcterms:modified xsi:type="dcterms:W3CDTF">2026-08-23T15:39:02Z</dcterms:modified>
</cp:coreProperties>
</file>